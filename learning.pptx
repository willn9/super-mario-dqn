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3566" r:id="rId2"/>
    <p:sldId id="3568" r:id="rId3"/>
    <p:sldId id="3567" r:id="rId4"/>
    <p:sldId id="3574" r:id="rId5"/>
    <p:sldId id="3569" r:id="rId6"/>
    <p:sldId id="3570" r:id="rId7"/>
    <p:sldId id="3571" r:id="rId8"/>
    <p:sldId id="3572" r:id="rId9"/>
    <p:sldId id="3573" r:id="rId10"/>
  </p:sldIdLst>
  <p:sldSz cx="12192000" cy="6858000"/>
  <p:notesSz cx="7053263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615" autoAdjust="0"/>
  </p:normalViewPr>
  <p:slideViewPr>
    <p:cSldViewPr snapToGrid="0">
      <p:cViewPr varScale="1">
        <p:scale>
          <a:sx n="99" d="100"/>
          <a:sy n="99" d="100"/>
        </p:scale>
        <p:origin x="948" y="78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95217" y="0"/>
            <a:ext cx="3056414" cy="467072"/>
          </a:xfrm>
          <a:prstGeom prst="rect">
            <a:avLst/>
          </a:prstGeom>
        </p:spPr>
        <p:txBody>
          <a:bodyPr vert="horz" lIns="93497" tIns="46749" rIns="93497" bIns="46749" rtlCol="0"/>
          <a:lstStyle>
            <a:lvl1pPr algn="r">
              <a:defRPr sz="1200"/>
            </a:lvl1pPr>
          </a:lstStyle>
          <a:p>
            <a:fld id="{8E808063-80CD-4E50-9B58-80731C6E8E97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3425" y="1163638"/>
            <a:ext cx="5586413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497" tIns="46749" rIns="93497" bIns="4674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5327" y="4480004"/>
            <a:ext cx="5642610" cy="3665458"/>
          </a:xfrm>
          <a:prstGeom prst="rect">
            <a:avLst/>
          </a:prstGeom>
        </p:spPr>
        <p:txBody>
          <a:bodyPr vert="horz" lIns="93497" tIns="46749" rIns="93497" bIns="4674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95217" y="8842030"/>
            <a:ext cx="3056414" cy="467071"/>
          </a:xfrm>
          <a:prstGeom prst="rect">
            <a:avLst/>
          </a:prstGeom>
        </p:spPr>
        <p:txBody>
          <a:bodyPr vert="horz" lIns="93497" tIns="46749" rIns="93497" bIns="46749" rtlCol="0" anchor="b"/>
          <a:lstStyle>
            <a:lvl1pPr algn="r">
              <a:defRPr sz="1200"/>
            </a:lvl1pPr>
          </a:lstStyle>
          <a:p>
            <a:fld id="{18559F5D-47CD-42E0-9713-794F746650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71329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you're training an RL agent to play </a:t>
            </a:r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Super Mario Bros.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stacking multiple frames to form a single "State" is actually the secret sauce that makes the game playable for the AI.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exactly how we reconcile those frames, why it works, and how to handle color.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1. How We Reconcile 4 Frames into 1 State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 turn four separate frames into a single state, we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stack them along the channel dimension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Instead of feeding the neural network a single image, you feed it a "3D volume" or a tensor of images. If you are using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PyTorch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frames are concatenated so that the shape changes from (Channels, Height, Width) to (4 * Channels, Height, Width).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"What if the frames are different?"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They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must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be different! That is the entire point.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If you give the AI a single, static snapshot of Mario mid-air, it has no way of knowing: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Is Mario moving up or falling down?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fast is that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Goomba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walking?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Did Mario just jump, or is he about to land?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 stacking four consecutive frames, you are giving the network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temporal context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(time). The differences between Frame 1, Frame 2, Frame 3, and Frame 4 allow the convolutional layers in your neural network to calculate velocity, acceleration, and direction of motion.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💡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Analogy: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Think of it like a flipbook. A single page is just a still picture. But when you look at a sequence of pages together, you instantly perceive motion. Stacking frames gives the AI the ability to "see" motion.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 Can We Use Just One Color Channel (Grayscale)?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Yes, absolutely. In fact, you </a:t>
            </a:r>
            <a:r>
              <a:rPr lang="en-US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should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use grayscale.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is standard practice in RL for retro games.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keep the game in full RGB color, your state shape for 4 stacked frames would be: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$$\text{Shape} = (12, \text{Height}, \text{Width})$$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 frames $\times$ 3 color channels = 12 channels total)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you convert the frames to grayscale first, your state shape becomes: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$$\text{Shape} = (4, \text{Height}, \text{Width})$$</a:t>
            </a:r>
          </a:p>
          <a:p>
            <a:r>
              <a:rPr lang="en-US" sz="120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(4 frames $\times$ 1 color channel = 4 channels total)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Grayscale is Better Here: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Massive Speedup: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You cut the amount of data the neural network has to process by 66%. This means faster training times and less memory usage.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Color Doesn't Matter: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Mario doesn't need to know that he is wearing red or that the sky is blue to clear a level. He just needs to know where the platforms, pits, and enemies are. Grayscale preserves all the structural geometry and contrast needed to play perfectly.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It Looks in Python (The Implementation)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You don't usually have to code this frame-stacking logic from scratch. The gymnasium (or older gym) library provides built-in "wrappers" that handle this automatically.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Here is a quick look at how you would set this up in Python using standard RL wrappers: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import gymnasium as gym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from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gymnasium.wrappers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import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GrayScaleObservation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FrameStack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1. Create the Mario environment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gym.make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("SuperMarioBros-v0") # or using specialized libraries like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gym_super_mario_bros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2. Convert to Grayscale (reduces channels from 3 to 1)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keep_dim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=False changes shape from (H, W, 3) to (H, W)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GrayScaleObservation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(env,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keep_dim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=False)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3. Stack 4 frames together (creates a state of shape (4, H, W))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This automatically handles the "flipbook" effect for you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FrameStack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(env,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num_stack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=4)</a:t>
            </a:r>
          </a:p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Now, when you call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env.reset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 or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env.step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(), 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 'state' will automatically be a stack of 4 grayscale frames.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state, info = 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env.reset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()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print(</a:t>
            </a:r>
            <a:r>
              <a:rPr lang="en-US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state.shape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 # Output will be (4, Height, Width)</a:t>
            </a:r>
          </a:p>
          <a:p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 Last Tip: Frame Skipping</a:t>
            </a:r>
          </a:p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stacking frames, developers often pair it with </a:t>
            </a:r>
            <a:r>
              <a:rPr lang="en-US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Frame Skipping</a:t>
            </a:r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(usually skipping every 4 frames). Because Mario moves at 60 frames per second, four literal consecutive frames are almost identical. By skipping frames (e.g., taking frame 1, 5, 9, and 13), you give the AI a much wider, more useful window of time to see what's actually happening!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559F5D-47CD-42E0-9713-794F7466506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891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4F0FF-E7C5-C7BF-CAA4-7B6D9F363C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419C27-2E3B-213B-A7B6-7326F58513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E37E28-1EBE-298D-70D2-944C2536C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11350E-29BF-2AB3-ECB1-CCEC74C09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B615E-5855-D845-846A-0006CFA20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0743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349CA-55CD-E85F-884B-BA491E615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883BD-4219-0D20-83C1-A0AC5064B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215910-0999-DBFF-E6F8-3CD48FD45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8B20C3-4517-B3D5-0E4D-606A4D17B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FBC40B-2428-C95D-BC6D-C61519972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280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861E-9C54-7179-7B15-7C503350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4536952"/>
            <a:ext cx="10515600" cy="93150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ADABC-E966-1939-D438-84823F8F7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5601810"/>
            <a:ext cx="10515600" cy="48784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48596-A543-F3AF-2ED3-E76764CB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A9F40-2FD6-A1A3-802B-632CCBF9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AF96-5439-509D-108F-DDA24223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5774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C861E-9C54-7179-7B15-7C503350B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ADABC-E966-1939-D438-84823F8F7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D48596-A543-F3AF-2ED3-E76764CB9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A9F40-2FD6-A1A3-802B-632CCBF9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DAF96-5439-509D-108F-DDA242238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08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B6EDE-9DD4-EDB6-E29A-C5EE49FDE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579D-DD34-8F28-0D0B-D8D3707D9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1D233-DB47-6A2B-E59F-9DD96EA33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56F6C-FF45-50BE-39E0-83E6103CC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B093BB-30CA-2BA6-86AC-F464554CF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1D8D4E-3B25-816B-3785-601AC38B0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489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7579D-DD34-8F28-0D0B-D8D3707D96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920" y="177552"/>
            <a:ext cx="5868880" cy="655172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D1D233-DB47-6A2B-E59F-9DD96EA33E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77552"/>
            <a:ext cx="5868879" cy="6551721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02981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8BBBA-7592-AB8C-CD92-ABEE14BCF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7035DD-7717-9528-C2C1-299F6E82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E8ADE6-0142-15A7-3FAA-6C1BF08D8D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D46048-AC03-4841-B421-75F73D04EC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3B58C9-3451-A0DB-97D3-7D31AB20A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1E7CA-AF06-B47F-2871-70FA5E223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33337E-5C5B-D9CC-00B9-CCE75E352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4045166-914B-1F71-0706-DEB5D048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3326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21B-EAAB-2AC4-53D9-6DE5B0A27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691318"/>
          </a:xfr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1C585CF-DF71-7B7E-A1CB-4DDECF39915F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60338" y="968375"/>
            <a:ext cx="11877675" cy="57531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97008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9C21B-EAAB-2AC4-53D9-6DE5B0A27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853D0-C207-BC50-BFA2-09166D7396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00D8D9-BEBD-650E-892D-286166297C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3ACFC-47B5-E29D-018B-4F90C0D3B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60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C71F5F-8D9C-9366-2341-6807EA941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3FFB0C5-A200-7393-CBF2-A46F91699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97BDC-CD5F-8C94-FCE5-3FBE2731C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261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F2400-74F5-60E6-F4F0-E1B73ADA3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4266E-6987-3335-450A-9D8CEA3E6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FECC2-DAC5-3373-D1DC-0650BDC4E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4A6F1-4B9F-1910-C04F-09FDD5DC0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23E751-629B-6084-7C27-0A52EB284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21BAE0-CE9F-E234-7F0B-E24BCA969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119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34682-6001-E159-D6E6-92679E1AB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987ABC-F140-FFC4-77C3-9B7D3492F6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21D4AB-E421-7E01-B599-7712A9BD90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A1692B-C6F8-6C31-ACEB-425DD5BB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3F37D-A183-37EE-8DA3-DB66EBD0B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F3F452-EAE8-2834-7BB4-93FFD7344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5720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AB265-33D4-9EB4-E350-D074504C2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B4063B-1844-B748-07D7-F885DA615F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948E0-5163-0BA5-665B-AE246F7DC4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97FEC-B9BC-A5A8-BA89-8331779C5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569CB-C634-79CD-9D97-3391DBB31A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44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F9C73E-C394-E319-16FA-D3F8E92D22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0B3678-E041-6B6B-16E6-321AE54E3B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A31B8-EFDE-B212-09BA-85D5ED0DB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515ED-4EC3-DF35-55B6-39B2ED1E2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0E5F4-FAA1-ADAE-B9FF-8A9AC05BC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0611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6771A3-7DD5-773D-4C4F-131ED95452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0C8F1C-C84A-EEEC-50C2-7B3CA5B3A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EBD8F-6AF8-55B8-7305-A7B4F80AB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EB351-B620-4858-8729-D8D672F8F72D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2E18F9-B1FB-86BF-0F1C-D3DC0D86F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1A837-114A-A229-A4CF-20C3976EC7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29AF41-EC63-4572-945C-E29BC59DAE1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2348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52" r:id="rId5"/>
    <p:sldLayoutId id="2147483662" r:id="rId6"/>
    <p:sldLayoutId id="2147483653" r:id="rId7"/>
    <p:sldLayoutId id="2147483654" r:id="rId8"/>
    <p:sldLayoutId id="2147483661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29DF6-00E5-836A-C5EB-9353586B5B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026086-6A50-5F6A-9168-9671B4F8B0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552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B70E13-4726-A66A-C11D-1D17FB107E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super_mario_learning</a:t>
            </a:r>
            <a:r>
              <a:rPr lang="en-US" dirty="0"/>
              <a:t>/</a:t>
            </a:r>
            <a:br>
              <a:rPr lang="en-US" dirty="0"/>
            </a:br>
            <a:r>
              <a:rPr lang="en-US" dirty="0"/>
              <a:t>|</a:t>
            </a:r>
            <a:br>
              <a:rPr lang="en-US" dirty="0"/>
            </a:br>
            <a:r>
              <a:rPr lang="en-US" dirty="0"/>
              <a:t>|── 00_env_test.ipynb</a:t>
            </a:r>
            <a:br>
              <a:rPr lang="en-US" dirty="0"/>
            </a:br>
            <a:r>
              <a:rPr lang="en-US" dirty="0"/>
              <a:t>|── 01_wrappers_test.ipynb</a:t>
            </a:r>
            <a:br>
              <a:rPr lang="en-US" dirty="0"/>
            </a:br>
            <a:r>
              <a:rPr lang="en-US" dirty="0"/>
              <a:t>|── 02_random_agent.ipynb</a:t>
            </a:r>
            <a:br>
              <a:rPr lang="en-US" dirty="0"/>
            </a:br>
            <a:r>
              <a:rPr lang="en-US" dirty="0"/>
              <a:t>|── 03_cnn_forward_pass.ipynb</a:t>
            </a:r>
            <a:br>
              <a:rPr lang="en-US" dirty="0"/>
            </a:br>
            <a:r>
              <a:rPr lang="en-US" dirty="0"/>
              <a:t>|── 04_dqn_agent_parts.ipynb</a:t>
            </a:r>
            <a:br>
              <a:rPr lang="en-US" dirty="0"/>
            </a:br>
            <a:r>
              <a:rPr lang="en-US" dirty="0"/>
              <a:t>|── 05_training_loop.ipynb</a:t>
            </a:r>
            <a:br>
              <a:rPr lang="en-US" dirty="0"/>
            </a:br>
            <a:r>
              <a:rPr lang="en-US" dirty="0"/>
              <a:t>|</a:t>
            </a:r>
            <a:br>
              <a:rPr lang="en-US" dirty="0"/>
            </a:br>
            <a:r>
              <a:rPr lang="en-US" dirty="0"/>
              <a:t>|── </a:t>
            </a:r>
            <a:r>
              <a:rPr lang="en-US" dirty="0" err="1"/>
              <a:t>mario_agent</a:t>
            </a:r>
            <a:r>
              <a:rPr lang="en-US" dirty="0"/>
              <a:t>/</a:t>
            </a:r>
            <a:br>
              <a:rPr lang="en-US" dirty="0"/>
            </a:br>
            <a:r>
              <a:rPr lang="en-US" dirty="0"/>
              <a:t>|── wrappers.py</a:t>
            </a:r>
            <a:br>
              <a:rPr lang="en-US" dirty="0"/>
            </a:br>
            <a:r>
              <a:rPr lang="en-US" dirty="0"/>
              <a:t>|── model.py</a:t>
            </a:r>
            <a:br>
              <a:rPr lang="en-US" dirty="0"/>
            </a:br>
            <a:r>
              <a:rPr lang="en-US" dirty="0"/>
              <a:t>|── replay_memory.py</a:t>
            </a:r>
            <a:br>
              <a:rPr lang="en-US" dirty="0"/>
            </a:br>
            <a:r>
              <a:rPr lang="en-US" dirty="0"/>
              <a:t>|── agent.py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FB96BD2-58E1-6DAC-C0E4-8E9D5E1268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609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699B47-2DEF-FF24-4EBE-BC2233B328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State = 4 Frames to get context of movement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8EADD28-5ABF-9E2F-FAA5-8E5F2AA387B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3272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B0FB96-B53F-1034-786E-834B93190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4A7352-D42B-939D-66AD-A09B974E9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388BE41-B7D9-CB28-0856-8174C469C44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518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10F39E-CA6F-53D0-2683-36980B3F714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9276090" y="276209"/>
            <a:ext cx="2831784" cy="352577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B432809-82BE-B744-9F2A-09D97B96CF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7138" y="276209"/>
            <a:ext cx="2755061" cy="360277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0B92966-840F-3D6D-2EA8-6691FC84D6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522" y="420589"/>
            <a:ext cx="2771011" cy="375677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6185BE-A4F1-5442-0A88-8030FDAF40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3263" y="276209"/>
            <a:ext cx="2852737" cy="379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10607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F8431-5458-CDF8-7783-5AC589EDCA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27F74E0-08E0-0FAD-2919-0C2AE25178F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37251" y="1210156"/>
            <a:ext cx="3296110" cy="448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591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A5CE7F-B519-61D1-1553-364402B764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35108-05E4-2CE2-30BF-32F1F14B6BB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00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E83001-1A63-A078-2F38-DD581859BD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FEF60-63B2-39C6-A3D4-F926EDD17E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36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C3E58F7-344F-290F-555D-8C9E004769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7DC16C-0141-CE28-73D9-F47EC3A4332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1823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odule x.potx" id="{D8BECA12-5553-4F13-A3B6-CCE7BF69A55D}" vid="{3C150BA6-92D4-4D3B-808A-760A41D4A1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00 Weekly Module Template</Template>
  <TotalTime>2006</TotalTime>
  <Words>965</Words>
  <Application>Microsoft Office PowerPoint</Application>
  <PresentationFormat>Widescreen</PresentationFormat>
  <Paragraphs>50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State = 4 Frames to get context of movement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Wael Nawara</dc:creator>
  <cp:lastModifiedBy>Wael Nawara</cp:lastModifiedBy>
  <cp:revision>8</cp:revision>
  <cp:lastPrinted>2024-08-15T22:09:55Z</cp:lastPrinted>
  <dcterms:created xsi:type="dcterms:W3CDTF">2026-05-21T22:58:52Z</dcterms:created>
  <dcterms:modified xsi:type="dcterms:W3CDTF">2026-06-01T15:55:06Z</dcterms:modified>
</cp:coreProperties>
</file>